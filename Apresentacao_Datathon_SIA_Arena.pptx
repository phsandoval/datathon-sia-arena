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84"/>
  </p:normalViewPr>
  <p:slideViewPr>
    <p:cSldViewPr snapToGrid="0" snapToObjects="1">
      <p:cViewPr varScale="1">
        <p:scale>
          <a:sx n="120" d="100"/>
          <a:sy n="120" d="100"/>
        </p:scale>
        <p:origin x="184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11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24B9EB5-AD71-9586-61CB-8198A1E7A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061" y="-14220"/>
            <a:ext cx="12376298" cy="707622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414521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APRESENTAÇÃO PESSOAL | PITCH ADW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1" y="82296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dirty="0">
                <a:solidFill>
                  <a:schemeClr val="bg1"/>
                </a:solidFill>
              </a:rPr>
              <a:t>Pedro Henrique Sandoval | IA, </a:t>
            </a:r>
            <a:r>
              <a:rPr dirty="0" err="1">
                <a:solidFill>
                  <a:schemeClr val="bg1"/>
                </a:solidFill>
              </a:rPr>
              <a:t>Ciência</a:t>
            </a:r>
            <a:r>
              <a:rPr dirty="0">
                <a:solidFill>
                  <a:schemeClr val="bg1"/>
                </a:solidFill>
              </a:rPr>
              <a:t> de Dados &amp; </a:t>
            </a:r>
            <a:r>
              <a:rPr dirty="0" err="1">
                <a:solidFill>
                  <a:schemeClr val="bg1"/>
                </a:solidFill>
              </a:rPr>
              <a:t>Educação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63039"/>
            <a:ext cx="2926080" cy="4981457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endParaRPr lang="en-US" dirty="0"/>
          </a:p>
          <a:p>
            <a:pPr algn="ctr">
              <a:defRPr sz="1600" b="1">
                <a:solidFill>
                  <a:srgbClr val="2563EB"/>
                </a:solidFill>
              </a:defRPr>
            </a:pPr>
            <a:endParaRPr lang="pt-BR" dirty="0"/>
          </a:p>
          <a:p>
            <a:pPr algn="ctr">
              <a:defRPr sz="1600" b="1">
                <a:solidFill>
                  <a:srgbClr val="2563EB"/>
                </a:solidFill>
              </a:defRPr>
            </a:pPr>
            <a:endParaRPr lang="pt-BR" dirty="0"/>
          </a:p>
          <a:p>
            <a:pPr algn="ctr">
              <a:defRPr sz="1600" b="1">
                <a:solidFill>
                  <a:srgbClr val="2563EB"/>
                </a:solidFill>
              </a:defRPr>
            </a:pPr>
            <a:endParaRPr lang="pt-BR" dirty="0"/>
          </a:p>
          <a:p>
            <a:pPr algn="ctr">
              <a:defRPr sz="1600" b="1">
                <a:solidFill>
                  <a:srgbClr val="2563EB"/>
                </a:solidFill>
              </a:defRPr>
            </a:pPr>
            <a:endParaRPr lang="pt-BR" dirty="0"/>
          </a:p>
          <a:p>
            <a:pPr algn="ctr">
              <a:defRPr sz="1600" b="1">
                <a:solidFill>
                  <a:srgbClr val="2563EB"/>
                </a:solidFill>
              </a:defRPr>
            </a:pPr>
            <a:endParaRPr lang="pt-BR" dirty="0"/>
          </a:p>
          <a:p>
            <a:pPr algn="ctr">
              <a:defRPr sz="1600" b="1">
                <a:solidFill>
                  <a:srgbClr val="2563EB"/>
                </a:solidFill>
              </a:defRPr>
            </a:pPr>
            <a:endParaRPr lang="pt-BR" dirty="0"/>
          </a:p>
          <a:p>
            <a:pPr algn="ctr">
              <a:defRPr sz="1600" b="1">
                <a:solidFill>
                  <a:srgbClr val="2563EB"/>
                </a:solidFill>
              </a:defRPr>
            </a:pPr>
            <a:r>
              <a:rPr dirty="0"/>
              <a:t>PEDRO H. SANDOVAL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rPr sz="1400" dirty="0"/>
              <a:t>Data Scientist &amp; AI Engineer</a:t>
            </a:r>
            <a:br>
              <a:rPr dirty="0"/>
            </a:br>
            <a:endParaRPr lang="en-US" sz="1400" dirty="0"/>
          </a:p>
          <a:p>
            <a:pPr algn="ctr">
              <a:defRPr sz="1100">
                <a:solidFill>
                  <a:srgbClr val="64748B"/>
                </a:solidFill>
              </a:defRPr>
            </a:pPr>
            <a:endParaRPr lang="pt-BR" sz="1400" dirty="0"/>
          </a:p>
          <a:p>
            <a:pPr algn="ctr">
              <a:defRPr sz="1100">
                <a:solidFill>
                  <a:srgbClr val="64748B"/>
                </a:solidFill>
              </a:defRPr>
            </a:pPr>
            <a:endParaRPr lang="pt-BR" sz="1400" dirty="0"/>
          </a:p>
          <a:p>
            <a:pPr algn="ctr">
              <a:defRPr sz="1100">
                <a:solidFill>
                  <a:srgbClr val="64748B"/>
                </a:solidFill>
              </a:defRPr>
            </a:pPr>
            <a:endParaRPr lang="pt-BR" sz="1400" dirty="0"/>
          </a:p>
          <a:p>
            <a:pPr algn="ctr">
              <a:defRPr sz="1100">
                <a:solidFill>
                  <a:srgbClr val="64748B"/>
                </a:solidFill>
              </a:defRPr>
            </a:pPr>
            <a:endParaRPr lang="pt-BR" sz="1400" dirty="0"/>
          </a:p>
          <a:p>
            <a:pPr algn="ctr">
              <a:defRPr sz="1100">
                <a:solidFill>
                  <a:srgbClr val="64748B"/>
                </a:solidFill>
              </a:defRPr>
            </a:pPr>
            <a:endParaRPr sz="1400" dirty="0"/>
          </a:p>
          <a:p>
            <a:br>
              <a:rPr dirty="0"/>
            </a:br>
            <a:r>
              <a:rPr lang="en-US" dirty="0"/>
              <a:t>\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3962401" y="1463040"/>
            <a:ext cx="749807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rPr sz="1600" dirty="0" err="1"/>
              <a:t>Formação</a:t>
            </a:r>
            <a:r>
              <a:rPr sz="1600" dirty="0"/>
              <a:t> Internacional </a:t>
            </a:r>
            <a:r>
              <a:rPr sz="1600" dirty="0" err="1"/>
              <a:t>em</a:t>
            </a:r>
            <a:r>
              <a:rPr sz="1600" dirty="0"/>
              <a:t> IA &amp; Dados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400" dirty="0"/>
              <a:t>Licenciado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Inteligência</a:t>
            </a:r>
            <a:r>
              <a:rPr sz="1400" dirty="0"/>
              <a:t> Artificial e </a:t>
            </a:r>
            <a:r>
              <a:rPr sz="1400" dirty="0" err="1"/>
              <a:t>Ciência</a:t>
            </a:r>
            <a:r>
              <a:rPr sz="1400" dirty="0"/>
              <a:t> de Dados pela </a:t>
            </a:r>
            <a:r>
              <a:rPr sz="1400" dirty="0" err="1"/>
              <a:t>Universidade</a:t>
            </a:r>
            <a:r>
              <a:rPr sz="1400" dirty="0"/>
              <a:t> de Coimbra 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931920" y="3108960"/>
            <a:ext cx="749807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rPr sz="1600" dirty="0" err="1"/>
              <a:t>Engenharia</a:t>
            </a:r>
            <a:r>
              <a:rPr sz="1600" dirty="0"/>
              <a:t> de Dados &amp; IA de Ponta a Ponta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sz="1400" dirty="0" err="1"/>
              <a:t>Experiência</a:t>
            </a:r>
            <a:r>
              <a:rPr sz="1400" dirty="0"/>
              <a:t> </a:t>
            </a:r>
            <a:r>
              <a:rPr sz="1400" dirty="0" err="1"/>
              <a:t>prática</a:t>
            </a:r>
            <a:r>
              <a:rPr sz="1400" dirty="0"/>
              <a:t> no </a:t>
            </a:r>
            <a:r>
              <a:rPr sz="1400" dirty="0" err="1"/>
              <a:t>desenvolvimento</a:t>
            </a:r>
            <a:r>
              <a:rPr sz="1400" dirty="0"/>
              <a:t> de pipelines de dados </a:t>
            </a:r>
            <a:r>
              <a:rPr sz="1400" dirty="0" err="1"/>
              <a:t>em</a:t>
            </a:r>
            <a:r>
              <a:rPr sz="1400" dirty="0"/>
              <a:t> Python, </a:t>
            </a:r>
            <a:r>
              <a:rPr sz="1400" dirty="0" err="1"/>
              <a:t>modelos</a:t>
            </a:r>
            <a:r>
              <a:rPr sz="1400" dirty="0"/>
              <a:t> </a:t>
            </a:r>
            <a:r>
              <a:rPr sz="1400" dirty="0" err="1"/>
              <a:t>preditivos</a:t>
            </a:r>
            <a:r>
              <a:rPr sz="1400" dirty="0"/>
              <a:t>, </a:t>
            </a:r>
            <a:r>
              <a:rPr sz="1400" dirty="0" err="1"/>
              <a:t>arquiteturas</a:t>
            </a:r>
            <a:r>
              <a:rPr sz="1400" dirty="0"/>
              <a:t> de RAG (Retrieval-Augmented Generation), </a:t>
            </a:r>
            <a:r>
              <a:rPr sz="1400" dirty="0" err="1"/>
              <a:t>agentes</a:t>
            </a:r>
            <a:r>
              <a:rPr sz="1400" dirty="0"/>
              <a:t> </a:t>
            </a:r>
            <a:r>
              <a:rPr sz="1400" dirty="0" err="1"/>
              <a:t>autônomos</a:t>
            </a:r>
            <a:r>
              <a:rPr sz="1400" dirty="0"/>
              <a:t> e APIs para </a:t>
            </a:r>
            <a:r>
              <a:rPr sz="1400" dirty="0" err="1"/>
              <a:t>casos</a:t>
            </a:r>
            <a:r>
              <a:rPr sz="1400" dirty="0"/>
              <a:t> reais de mercado.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4754880"/>
            <a:ext cx="7498079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rPr sz="1600" dirty="0" err="1"/>
              <a:t>Vivência</a:t>
            </a:r>
            <a:r>
              <a:rPr sz="1600" dirty="0"/>
              <a:t> Real </a:t>
            </a:r>
            <a:r>
              <a:rPr sz="1600" dirty="0" err="1"/>
              <a:t>em</a:t>
            </a:r>
            <a:r>
              <a:rPr sz="1600" dirty="0"/>
              <a:t> Sala de Aula &amp; EdTech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0F172A"/>
                </a:solidFill>
              </a:defRPr>
            </a:pPr>
            <a:r>
              <a:rPr lang="pt-BR" sz="1400" b="1" dirty="0">
                <a:solidFill>
                  <a:srgbClr val="0F172A"/>
                </a:solidFill>
              </a:rPr>
              <a:t>Vivência em Sala de Aula:</a:t>
            </a:r>
            <a:r>
              <a:rPr lang="pt-BR" sz="1400" dirty="0">
                <a:solidFill>
                  <a:srgbClr val="0F172A"/>
                </a:solidFill>
              </a:rPr>
              <a:t> Ex-professor de Robótica — experiência prática em engajar alunos através de competição.</a:t>
            </a:r>
            <a:endParaRPr sz="1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E0539E7-6EC7-1202-6779-F7E6E6F69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231" y="1752342"/>
            <a:ext cx="1676658" cy="167665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792557B-1617-6FE8-1FB3-31AB67A1C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4332" y="4393018"/>
            <a:ext cx="1520455" cy="1520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B685D349-BD44-EF6C-1972-48853CAA4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163" y="-107957"/>
            <a:ext cx="12372255" cy="707391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dirty="0"/>
              <a:t>DATATHON ADW 2026 | FEA-RP/USP • NEURON DSAI • SOLANA SUPERTEAM • 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9252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lang="pt-BR" sz="2200" dirty="0">
                <a:solidFill>
                  <a:schemeClr val="bg1"/>
                </a:solidFill>
              </a:rPr>
              <a:t>Limpeza da Base e o Comportamento dos Valores Ausentes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62000" y="1322988"/>
            <a:ext cx="3383280" cy="11887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 dirty="0"/>
              <a:t>10</a:t>
            </a:r>
            <a:r>
              <a:rPr lang="en-US" dirty="0"/>
              <a:t>6</a:t>
            </a:r>
            <a:r>
              <a:rPr dirty="0"/>
              <a:t> ALUNOS ATIVOS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rPr lang="pt-BR" sz="1400" b="1" dirty="0">
                <a:solidFill>
                  <a:schemeClr val="tx1"/>
                </a:solidFill>
              </a:rPr>
              <a:t>87,7% realizaram ambas as provas (100</a:t>
            </a:r>
            <a:r>
              <a:rPr lang="pt-BR" sz="1400" b="1" dirty="0">
                <a:solidFill>
                  <a:srgbClr val="64748B"/>
                </a:solidFill>
              </a:rPr>
              <a:t>)</a:t>
            </a:r>
            <a:endParaRPr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4404357" y="1322988"/>
            <a:ext cx="3383280" cy="11887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rPr lang="pt-BR" dirty="0">
                <a:solidFill>
                  <a:srgbClr val="10B981"/>
                </a:solidFill>
              </a:rPr>
              <a:t>8 alunos matriculados não registaram tentativas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046720" y="1322988"/>
            <a:ext cx="3383280" cy="11887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rPr lang="pt-BR" dirty="0">
                <a:solidFill>
                  <a:srgbClr val="8B5CF6"/>
                </a:solidFill>
              </a:rPr>
              <a:t>ZERO IMPUTAÇÃO</a:t>
            </a:r>
          </a:p>
          <a:p>
            <a:pPr algn="ctr">
              <a:defRPr sz="1800" b="1">
                <a:solidFill>
                  <a:srgbClr val="8B5CF6"/>
                </a:solidFill>
              </a:defRPr>
            </a:pPr>
            <a:r>
              <a:rPr lang="pt-BR" sz="1400" dirty="0">
                <a:solidFill>
                  <a:schemeClr val="tx1"/>
                </a:solidFill>
              </a:rPr>
              <a:t>Remoção estrita dos 14 incompletos sem fabricar médias artificiais</a:t>
            </a:r>
            <a:endParaRPr sz="1050" dirty="0">
              <a:solidFill>
                <a:schemeClr val="tx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369816C-A312-48E9-26B5-987EFD61F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597" y="2704403"/>
            <a:ext cx="5638800" cy="2476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6">
                <a:extLst>
                  <a:ext uri="{FF2B5EF4-FFF2-40B4-BE49-F238E27FC236}">
                    <a16:creationId xmlns:a16="http://schemas.microsoft.com/office/drawing/2014/main" id="{0F37DEC6-82AA-619B-FAFA-A369BBD5DDE3}"/>
                  </a:ext>
                </a:extLst>
              </p:cNvPr>
              <p:cNvSpPr/>
              <p:nvPr/>
            </p:nvSpPr>
            <p:spPr>
              <a:xfrm>
                <a:off x="864778" y="5373598"/>
                <a:ext cx="10462437" cy="1371598"/>
              </a:xfrm>
              <a:prstGeom prst="roundRect">
                <a:avLst/>
              </a:prstGeom>
              <a:solidFill>
                <a:srgbClr val="F8FAFC"/>
              </a:solidFill>
              <a:ln w="25400">
                <a:solidFill>
                  <a:srgbClr val="8B5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lvl="0"/>
                <a:r>
                  <a:rPr lang="pt-BR" sz="1400" b="1" dirty="0">
                    <a:solidFill>
                      <a:schemeClr val="tx1"/>
                    </a:solidFill>
                  </a:rPr>
                  <a:t>A Anatomia da Evasão nas Provas (</a:t>
                </a:r>
                <a14:m>
                  <m:oMath xmlns:m="http://schemas.openxmlformats.org/officeDocument/2006/math">
                    <m:r>
                      <a:rPr lang="pt-BR" sz="1400" i="1">
                        <a:solidFill>
                          <a:schemeClr val="tx1"/>
                        </a:solidFill>
                      </a:rPr>
                      <m:t>𝑁</m:t>
                    </m:r>
                    <m:r>
                      <a:rPr lang="pt-BR" sz="1400">
                        <a:solidFill>
                          <a:schemeClr val="tx1"/>
                        </a:solidFill>
                      </a:rPr>
                      <m:t>=14</m:t>
                    </m:r>
                  </m:oMath>
                </a14:m>
                <a:r>
                  <a:rPr lang="pt-BR" sz="1400" b="1" dirty="0">
                    <a:solidFill>
                      <a:schemeClr val="tx1"/>
                    </a:solidFill>
                  </a:rPr>
                  <a:t> excluídos):</a:t>
                </a:r>
                <a:r>
                  <a:rPr lang="pt-BR" sz="1400" dirty="0">
                    <a:solidFill>
                      <a:schemeClr val="tx1"/>
                    </a:solidFill>
                  </a:rPr>
                  <a:t> </a:t>
                </a:r>
                <a:r>
                  <a:rPr lang="pt-BR" sz="1400" b="1" dirty="0">
                    <a:solidFill>
                      <a:schemeClr val="tx1"/>
                    </a:solidFill>
                  </a:rPr>
                  <a:t>8 alunos</a:t>
                </a:r>
                <a:r>
                  <a:rPr lang="pt-BR" sz="1400" dirty="0">
                    <a:solidFill>
                      <a:schemeClr val="tx1"/>
                    </a:solidFill>
                  </a:rPr>
                  <a:t> fizeram apenas a prova diagnóstica, </a:t>
                </a:r>
                <a:r>
                  <a:rPr lang="pt-BR" sz="1400" b="1" dirty="0">
                    <a:solidFill>
                      <a:schemeClr val="tx1"/>
                    </a:solidFill>
                  </a:rPr>
                  <a:t>5 alunos</a:t>
                </a:r>
                <a:r>
                  <a:rPr lang="pt-BR" sz="1400" dirty="0">
                    <a:solidFill>
                      <a:schemeClr val="tx1"/>
                    </a:solidFill>
                  </a:rPr>
                  <a:t> fizeram apenas a prova real e </a:t>
                </a:r>
                <a:r>
                  <a:rPr lang="pt-BR" sz="1400" b="1" dirty="0">
                    <a:solidFill>
                      <a:schemeClr val="tx1"/>
                    </a:solidFill>
                  </a:rPr>
                  <a:t>1 aluno</a:t>
                </a:r>
                <a:r>
                  <a:rPr lang="pt-BR" sz="1400" dirty="0">
                    <a:solidFill>
                      <a:schemeClr val="tx1"/>
                    </a:solidFill>
                  </a:rPr>
                  <a:t> faltou às duas avaliações.</a:t>
                </a:r>
              </a:p>
              <a:p>
                <a:pPr lvl="0"/>
                <a:endParaRPr lang="pt-BR" sz="1100" dirty="0">
                  <a:solidFill>
                    <a:schemeClr val="tx1"/>
                  </a:solidFill>
                </a:endParaRPr>
              </a:p>
              <a:p>
                <a:pPr lvl="0"/>
                <a:r>
                  <a:rPr lang="pt-BR" sz="1400" b="1" dirty="0">
                    <a:solidFill>
                      <a:schemeClr val="tx1"/>
                    </a:solidFill>
                  </a:rPr>
                  <a:t>31 tentativas sem conclusão (0,24%):</a:t>
                </a:r>
                <a:r>
                  <a:rPr lang="pt-BR" sz="1400" dirty="0">
                    <a:solidFill>
                      <a:schemeClr val="tx1"/>
                    </a:solidFill>
                  </a:rPr>
                  <a:t> Status </a:t>
                </a:r>
                <a:r>
                  <a:rPr lang="pt-BR" sz="1400" dirty="0" err="1">
                    <a:solidFill>
                      <a:schemeClr val="tx1"/>
                    </a:solidFill>
                  </a:rPr>
                  <a:t>in_progress</a:t>
                </a:r>
                <a:r>
                  <a:rPr lang="pt-BR" sz="1400" dirty="0">
                    <a:solidFill>
                      <a:schemeClr val="tx1"/>
                    </a:solidFill>
                  </a:rPr>
                  <a:t> gerando nulos em </a:t>
                </a:r>
                <a:r>
                  <a:rPr lang="pt-BR" sz="1400" dirty="0" err="1">
                    <a:solidFill>
                      <a:schemeClr val="tx1"/>
                    </a:solidFill>
                  </a:rPr>
                  <a:t>completed_at</a:t>
                </a:r>
                <a:r>
                  <a:rPr lang="pt-BR" sz="1400" dirty="0">
                    <a:solidFill>
                      <a:schemeClr val="tx1"/>
                    </a:solidFill>
                  </a:rPr>
                  <a:t> e </a:t>
                </a:r>
                <a:r>
                  <a:rPr lang="pt-BR" sz="1400" dirty="0" err="1">
                    <a:solidFill>
                      <a:schemeClr val="tx1"/>
                    </a:solidFill>
                  </a:rPr>
                  <a:t>xp_earned</a:t>
                </a:r>
                <a:r>
                  <a:rPr lang="pt-BR" sz="14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0"/>
                <a:endParaRPr lang="pt-BR" sz="1400" dirty="0">
                  <a:solidFill>
                    <a:schemeClr val="tx1"/>
                  </a:solidFill>
                </a:endParaRPr>
              </a:p>
              <a:p>
                <a:pPr lvl="0"/>
                <a:r>
                  <a:rPr lang="pt-BR" sz="1400" b="1" dirty="0">
                    <a:solidFill>
                      <a:schemeClr val="tx1"/>
                    </a:solidFill>
                  </a:rPr>
                  <a:t>Zero nulos em respostas:</a:t>
                </a:r>
                <a:r>
                  <a:rPr lang="pt-BR" sz="1400" dirty="0">
                    <a:solidFill>
                      <a:schemeClr val="tx1"/>
                    </a:solidFill>
                  </a:rPr>
                  <a:t> 59.691 interações íntegras prontas para mineração.</a:t>
                </a:r>
              </a:p>
            </p:txBody>
          </p:sp>
        </mc:Choice>
        <mc:Fallback>
          <p:sp>
            <p:nvSpPr>
              <p:cNvPr id="9" name="Rounded Rectangle 6">
                <a:extLst>
                  <a:ext uri="{FF2B5EF4-FFF2-40B4-BE49-F238E27FC236}">
                    <a16:creationId xmlns:a16="http://schemas.microsoft.com/office/drawing/2014/main" id="{0F37DEC6-82AA-619B-FAFA-A369BBD5DD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78" y="5373598"/>
                <a:ext cx="10462437" cy="137159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solidFill>
                  <a:srgbClr val="8B5CF6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F8A17628-77FB-FF42-1D11-DBF555BF3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7085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19" y="365760"/>
            <a:ext cx="93162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lang="pt-BR" dirty="0"/>
              <a:t>DATATHON ADW 2026 | FEA-RP/USP • NEURON DSAI • SOLANA SUPERTEAM • 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lang="pt-BR" sz="2200" dirty="0">
                <a:solidFill>
                  <a:schemeClr val="bg1"/>
                </a:solidFill>
              </a:rPr>
              <a:t>Onde estavam os Outliers? A Anomalia dos 2 Segundos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411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</a:defRPr>
            </a:pPr>
            <a:r>
              <a:t>01:00 – 02:30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608" y="5504822"/>
            <a:ext cx="3701371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lang="pt-BR" sz="1400" b="1" dirty="0">
                <a:solidFill>
                  <a:srgbClr val="2563EB"/>
                </a:solidFill>
              </a:rPr>
              <a:t>Notas sem Outliers (</a:t>
            </a:r>
            <a:r>
              <a:rPr lang="pt-BR" sz="1400" b="1" dirty="0" err="1">
                <a:solidFill>
                  <a:srgbClr val="2563EB"/>
                </a:solidFill>
              </a:rPr>
              <a:t>Tukey</a:t>
            </a:r>
            <a:r>
              <a:rPr lang="pt-BR" sz="1400" b="1" dirty="0">
                <a:solidFill>
                  <a:srgbClr val="2563EB"/>
                </a:solidFill>
              </a:rPr>
              <a:t> IQR 1.5):</a:t>
            </a:r>
            <a:r>
              <a:rPr lang="pt-BR" sz="1400" dirty="0">
                <a:solidFill>
                  <a:srgbClr val="2563EB"/>
                </a:solidFill>
              </a:rPr>
              <a:t> </a:t>
            </a:r>
          </a:p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lang="pt-BR" sz="1200" dirty="0">
                <a:solidFill>
                  <a:schemeClr val="tx1"/>
                </a:solidFill>
              </a:rPr>
              <a:t>0 anomalias nas provas. O problema estava escondido no tempo de resposta.</a:t>
            </a:r>
            <a:endParaRPr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/>
              <p:cNvSpPr/>
              <p:nvPr/>
            </p:nvSpPr>
            <p:spPr>
              <a:xfrm>
                <a:off x="4360587" y="5504822"/>
                <a:ext cx="3450974" cy="1097280"/>
              </a:xfrm>
              <a:prstGeom prst="roundRect">
                <a:avLst/>
              </a:prstGeom>
              <a:solidFill>
                <a:srgbClr val="F8FAFC"/>
              </a:solidFill>
              <a:ln w="19050">
                <a:solidFill>
                  <a:srgbClr val="EF444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200" b="1">
                    <a:solidFill>
                      <a:srgbClr val="EF4444"/>
                    </a:solidFill>
                  </a:defRPr>
                </a:pPr>
                <a:r>
                  <a:rPr lang="pt-BR" sz="1400" b="1" dirty="0">
                    <a:solidFill>
                      <a:srgbClr val="EF4444"/>
                    </a:solidFill>
                  </a:rPr>
                  <a:t>46,3% em </a:t>
                </a:r>
                <a14:m>
                  <m:oMath xmlns:m="http://schemas.openxmlformats.org/officeDocument/2006/math">
                    <m:r>
                      <a:rPr lang="pt-BR" sz="1400" b="1">
                        <a:solidFill>
                          <a:srgbClr val="EF4444"/>
                        </a:solidFill>
                      </a:rPr>
                      <m:t>≤2</m:t>
                    </m:r>
                    <m:r>
                      <m:rPr>
                        <m:nor/>
                      </m:rPr>
                      <a:rPr lang="pt-BR" sz="1400" i="1">
                        <a:solidFill>
                          <a:srgbClr val="EF4444"/>
                        </a:solidFill>
                      </a:rPr>
                      <m:t>s</m:t>
                    </m:r>
                  </m:oMath>
                </a14:m>
                <a:r>
                  <a:rPr lang="pt-BR" sz="1400" b="1" dirty="0">
                    <a:solidFill>
                      <a:srgbClr val="EF4444"/>
                    </a:solidFill>
                  </a:rPr>
                  <a:t> (Gráfico A e </a:t>
                </a:r>
                <a:r>
                  <a:rPr lang="pt-BR" sz="1400" b="1" dirty="0" err="1">
                    <a:solidFill>
                      <a:srgbClr val="EF4444"/>
                    </a:solidFill>
                  </a:rPr>
                  <a:t>B</a:t>
                </a:r>
                <a:r>
                  <a:rPr lang="pt-BR" sz="1400" b="1" dirty="0">
                    <a:solidFill>
                      <a:srgbClr val="EF4444"/>
                    </a:solidFill>
                  </a:rPr>
                  <a:t>):</a:t>
                </a:r>
              </a:p>
              <a:p>
                <a:pPr algn="ctr">
                  <a:defRPr sz="1200" b="1">
                    <a:solidFill>
                      <a:srgbClr val="EF4444"/>
                    </a:solidFill>
                  </a:defRPr>
                </a:pPr>
                <a:r>
                  <a:rPr lang="pt-BR" sz="1200" dirty="0">
                    <a:solidFill>
                      <a:schemeClr val="tx1"/>
                    </a:solidFill>
                  </a:rPr>
                  <a:t> 27.636 respostas sem tempo de leitura (acerto de chute: </a:t>
                </a:r>
                <a:r>
                  <a:rPr lang="pt-BR" sz="1200" b="1" dirty="0">
                    <a:solidFill>
                      <a:schemeClr val="tx1"/>
                    </a:solidFill>
                  </a:rPr>
                  <a:t>52,6%</a:t>
                </a:r>
                <a:r>
                  <a:rPr lang="pt-BR" sz="1200" dirty="0">
                    <a:solidFill>
                      <a:schemeClr val="tx1"/>
                    </a:solidFill>
                  </a:rPr>
                  <a:t>) vs. </a:t>
                </a:r>
                <a:r>
                  <a:rPr lang="pt-BR" sz="1200" b="1" dirty="0">
                    <a:solidFill>
                      <a:schemeClr val="tx1"/>
                    </a:solidFill>
                  </a:rPr>
                  <a:t>79,0%</a:t>
                </a:r>
                <a:r>
                  <a:rPr lang="pt-BR" sz="1200" dirty="0">
                    <a:solidFill>
                      <a:schemeClr val="tx1"/>
                    </a:solidFill>
                  </a:rPr>
                  <a:t> quando leem por 11–20s.</a:t>
                </a:r>
                <a:r>
                  <a:rPr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587" y="5504822"/>
                <a:ext cx="3450974" cy="109728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EF4444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8161020" y="5504822"/>
            <a:ext cx="3332775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lang="pt-BR" sz="1400" b="1" dirty="0">
                <a:solidFill>
                  <a:srgbClr val="7030A0"/>
                </a:solidFill>
              </a:rPr>
              <a:t>A Prova da Decoreba (Gráfico C):</a:t>
            </a:r>
            <a:r>
              <a:rPr lang="pt-BR" sz="1400" dirty="0">
                <a:solidFill>
                  <a:srgbClr val="7030A0"/>
                </a:solidFill>
              </a:rPr>
              <a:t> 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rPr lang="pt-BR" sz="1200" dirty="0">
                <a:solidFill>
                  <a:srgbClr val="0F172A"/>
                </a:solidFill>
              </a:rPr>
              <a:t>Da 2ª tentativa em diante, o tempo trava em </a:t>
            </a:r>
            <a:r>
              <a:rPr lang="pt-BR" sz="1200" b="1" dirty="0">
                <a:solidFill>
                  <a:srgbClr val="0F172A"/>
                </a:solidFill>
              </a:rPr>
              <a:t>2,0s</a:t>
            </a:r>
            <a:r>
              <a:rPr lang="pt-BR" sz="1200" dirty="0">
                <a:solidFill>
                  <a:srgbClr val="0F172A"/>
                </a:solidFill>
              </a:rPr>
              <a:t>, mas o acerto rápido sobe de </a:t>
            </a:r>
            <a:r>
              <a:rPr lang="pt-BR" sz="1200" b="1" dirty="0">
                <a:solidFill>
                  <a:srgbClr val="0F172A"/>
                </a:solidFill>
              </a:rPr>
              <a:t>41,3% para 68,7%</a:t>
            </a:r>
            <a:r>
              <a:rPr lang="pt-BR" sz="1200" dirty="0">
                <a:solidFill>
                  <a:srgbClr val="0F172A"/>
                </a:solidFill>
              </a:rPr>
              <a:t>.</a:t>
            </a:r>
            <a:endParaRPr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B8E0A88-AFDD-B7A6-8783-79D460CE4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734" y="1711047"/>
            <a:ext cx="11344531" cy="3295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9C3D86B8-DA6D-E087-84BD-33AC06E38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394" y="-106073"/>
            <a:ext cx="12365665" cy="707014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lang="pt-BR" dirty="0"/>
              <a:t>DATATHON ADW 2026 | FEA-RP/USP • NEURON DSAI • SOLANA SUPERTEAM • 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lang="pt-BR" sz="2200" dirty="0">
                <a:solidFill>
                  <a:schemeClr val="bg1"/>
                </a:solidFill>
              </a:rPr>
              <a:t>A Nota Subiu, mas a Causa Não Foi o App</a:t>
            </a:r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455577" y="1216955"/>
                <a:ext cx="4021235" cy="1463040"/>
              </a:xfrm>
              <a:prstGeom prst="roundRect">
                <a:avLst/>
              </a:prstGeom>
              <a:solidFill>
                <a:srgbClr val="F8FAFC"/>
              </a:solidFill>
              <a:ln w="19050">
                <a:solidFill>
                  <a:srgbClr val="EF444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300" b="1">
                    <a:solidFill>
                      <a:srgbClr val="EF4444"/>
                    </a:solidFill>
                  </a:defRPr>
                </a:pPr>
                <a:r>
                  <a:rPr lang="pt-BR" sz="1600" b="1" dirty="0">
                    <a:solidFill>
                      <a:srgbClr val="EF4444"/>
                    </a:solidFill>
                  </a:rPr>
                  <a:t>Regressão à Média (</a:t>
                </a:r>
                <a14:m>
                  <m:oMath xmlns:m="http://schemas.openxmlformats.org/officeDocument/2006/math">
                    <m:r>
                      <a:rPr lang="pt-BR" sz="1600" b="1" i="1">
                        <a:solidFill>
                          <a:srgbClr val="EF4444"/>
                        </a:solidFill>
                      </a:rPr>
                      <m:t>𝑅</m:t>
                    </m:r>
                    <m:r>
                      <a:rPr lang="pt-BR" sz="1600" b="1">
                        <a:solidFill>
                          <a:srgbClr val="EF4444"/>
                        </a:solidFill>
                      </a:rPr>
                      <m:t>=−0,56,</m:t>
                    </m:r>
                    <m:r>
                      <a:rPr lang="pt-BR" sz="1600" b="1" i="1">
                        <a:solidFill>
                          <a:srgbClr val="EF4444"/>
                        </a:solidFill>
                      </a:rPr>
                      <m:t>𝑝</m:t>
                    </m:r>
                    <m:r>
                      <a:rPr lang="pt-BR" sz="1600" b="1">
                        <a:solidFill>
                          <a:srgbClr val="EF4444"/>
                        </a:solidFill>
                      </a:rPr>
                      <m:t>&lt;0,001</m:t>
                    </m:r>
                  </m:oMath>
                </a14:m>
                <a:r>
                  <a:rPr lang="pt-BR" sz="1600" b="1" dirty="0">
                    <a:solidFill>
                      <a:srgbClr val="EF4444"/>
                    </a:solidFill>
                  </a:rPr>
                  <a:t>):</a:t>
                </a:r>
              </a:p>
              <a:p>
                <a:pPr algn="ctr">
                  <a:defRPr sz="1300" b="1">
                    <a:solidFill>
                      <a:srgbClr val="EF4444"/>
                    </a:solidFill>
                  </a:defRPr>
                </a:pPr>
                <a:r>
                  <a:rPr lang="pt-BR" sz="1300" dirty="0">
                    <a:solidFill>
                      <a:schemeClr val="tx1"/>
                    </a:solidFill>
                  </a:rPr>
                  <a:t> </a:t>
                </a:r>
                <a:r>
                  <a:rPr lang="pt-BR" sz="1400" dirty="0">
                    <a:solidFill>
                      <a:schemeClr val="tx1"/>
                    </a:solidFill>
                  </a:rPr>
                  <a:t>O quartil mais baixo subiu </a:t>
                </a:r>
                <a:r>
                  <a:rPr lang="pt-BR" sz="1400" b="1" dirty="0">
                    <a:solidFill>
                      <a:schemeClr val="tx1"/>
                    </a:solidFill>
                  </a:rPr>
                  <a:t>+10,2 </a:t>
                </a:r>
                <a:r>
                  <a:rPr lang="pt-BR" sz="1400" b="1" dirty="0" err="1">
                    <a:solidFill>
                      <a:schemeClr val="tx1"/>
                    </a:solidFill>
                  </a:rPr>
                  <a:t>pts</a:t>
                </a:r>
                <a:r>
                  <a:rPr lang="pt-BR" sz="1400" dirty="0">
                    <a:solidFill>
                      <a:schemeClr val="tx1"/>
                    </a:solidFill>
                  </a:rPr>
                  <a:t>, enquanto os melhores alunos no pré-teste </a:t>
                </a:r>
                <a:r>
                  <a:rPr lang="pt-BR" sz="1400" b="1" dirty="0">
                    <a:solidFill>
                      <a:schemeClr val="tx1"/>
                    </a:solidFill>
                  </a:rPr>
                  <a:t>caíram -6,0 pts</a:t>
                </a:r>
                <a:r>
                  <a:rPr lang="pt-BR" sz="1400" dirty="0">
                    <a:solidFill>
                      <a:schemeClr val="tx1"/>
                    </a:solidFill>
                  </a:rPr>
                  <a:t>.</a:t>
                </a:r>
                <a:endParaRPr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77" y="1216955"/>
                <a:ext cx="4021235" cy="146304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EF4444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/>
              <p:cNvSpPr/>
              <p:nvPr/>
            </p:nvSpPr>
            <p:spPr>
              <a:xfrm>
                <a:off x="4637919" y="1216955"/>
                <a:ext cx="3043038" cy="1463040"/>
              </a:xfrm>
              <a:prstGeom prst="roundRect">
                <a:avLst/>
              </a:prstGeom>
              <a:solidFill>
                <a:srgbClr val="F8FAFC"/>
              </a:solidFill>
              <a:ln w="19050">
                <a:solidFill>
                  <a:srgbClr val="F59E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300" b="1">
                    <a:solidFill>
                      <a:srgbClr val="F59E0B"/>
                    </a:solidFill>
                  </a:defRPr>
                </a:pPr>
                <a:r>
                  <a:rPr lang="pt-BR" sz="1600" b="1" dirty="0">
                    <a:solidFill>
                      <a:srgbClr val="F59E0B"/>
                    </a:solidFill>
                  </a:rPr>
                  <a:t>Efeito Causal Nulo do Volume (</a:t>
                </a:r>
                <a14:m>
                  <m:oMath xmlns:m="http://schemas.openxmlformats.org/officeDocument/2006/math">
                    <m:r>
                      <a:rPr lang="pt-BR" sz="1600" b="1" i="1">
                        <a:solidFill>
                          <a:srgbClr val="F59E0B"/>
                        </a:solidFill>
                      </a:rPr>
                      <m:t>𝑝</m:t>
                    </m:r>
                    <m:r>
                      <a:rPr lang="pt-BR" sz="1600" b="1">
                        <a:solidFill>
                          <a:srgbClr val="F59E0B"/>
                        </a:solidFill>
                      </a:rPr>
                      <m:t>=0,28</m:t>
                    </m:r>
                  </m:oMath>
                </a14:m>
                <a:r>
                  <a:rPr lang="pt-BR" sz="1600" b="1" dirty="0">
                    <a:solidFill>
                      <a:srgbClr val="F59E0B"/>
                    </a:solidFill>
                  </a:rPr>
                  <a:t>):</a:t>
                </a:r>
                <a:r>
                  <a:rPr lang="pt-BR" sz="1600" dirty="0">
                    <a:solidFill>
                      <a:srgbClr val="F59E0B"/>
                    </a:solidFill>
                  </a:rPr>
                  <a:t> </a:t>
                </a:r>
              </a:p>
              <a:p>
                <a:pPr algn="ctr">
                  <a:defRPr sz="1300" b="1">
                    <a:solidFill>
                      <a:srgbClr val="F59E0B"/>
                    </a:solidFill>
                  </a:defRPr>
                </a:pPr>
                <a:r>
                  <a:rPr lang="pt-BR" sz="1400" dirty="0">
                    <a:solidFill>
                      <a:schemeClr val="tx1"/>
                    </a:solidFill>
                  </a:rPr>
                  <a:t>Responder mais questões no app não gerou ganho estatístico na prova.</a:t>
                </a:r>
                <a:endParaRPr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919" y="1216955"/>
                <a:ext cx="3043038" cy="146304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F59E0B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/>
              <p:cNvSpPr/>
              <p:nvPr/>
            </p:nvSpPr>
            <p:spPr>
              <a:xfrm>
                <a:off x="7842063" y="1205815"/>
                <a:ext cx="4246581" cy="1485319"/>
              </a:xfrm>
              <a:prstGeom prst="roundRect">
                <a:avLst/>
              </a:prstGeom>
              <a:solidFill>
                <a:srgbClr val="F8FAFC"/>
              </a:solidFill>
              <a:ln w="19050">
                <a:solidFill>
                  <a:srgbClr val="2563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300" b="1">
                    <a:solidFill>
                      <a:srgbClr val="2563EB"/>
                    </a:solidFill>
                  </a:defRPr>
                </a:pPr>
                <a:r>
                  <a:rPr lang="pt-BR" sz="1600" b="1" dirty="0">
                    <a:solidFill>
                      <a:srgbClr val="2563EB"/>
                    </a:solidFill>
                  </a:rPr>
                  <a:t>Disparidade por Série:</a:t>
                </a:r>
                <a:r>
                  <a:rPr lang="pt-BR" sz="1600" dirty="0">
                    <a:solidFill>
                      <a:srgbClr val="2563EB"/>
                    </a:solidFill>
                  </a:rPr>
                  <a:t> </a:t>
                </a:r>
              </a:p>
              <a:p>
                <a:pPr algn="ctr">
                  <a:defRPr sz="1300" b="1">
                    <a:solidFill>
                      <a:srgbClr val="2563EB"/>
                    </a:solidFill>
                  </a:defRPr>
                </a:pPr>
                <a:r>
                  <a:rPr lang="pt-BR" sz="1400" dirty="0">
                    <a:solidFill>
                      <a:schemeClr val="tx1"/>
                    </a:solidFill>
                  </a:rPr>
                  <a:t>O 3º Ano puxou a nota (</a:t>
                </a:r>
                <a:r>
                  <a:rPr lang="pt-BR" sz="1400" b="1" dirty="0">
                    <a:solidFill>
                      <a:schemeClr val="tx1"/>
                    </a:solidFill>
                  </a:rPr>
                  <a:t>+6,9 </a:t>
                </a:r>
                <a:r>
                  <a:rPr lang="pt-BR" sz="1400" b="1" dirty="0" err="1">
                    <a:solidFill>
                      <a:schemeClr val="tx1"/>
                    </a:solidFill>
                  </a:rPr>
                  <a:t>pts</a:t>
                </a:r>
                <a:r>
                  <a:rPr lang="pt-BR" sz="1400" dirty="0">
                    <a:solidFill>
                      <a:schemeClr val="tx1"/>
                    </a:solidFill>
                  </a:rPr>
                  <a:t>) chutando menos, enquanto o 2º Ano estagnou (</a:t>
                </a:r>
                <a:r>
                  <a:rPr lang="pt-BR" sz="1400" b="1" dirty="0">
                    <a:solidFill>
                      <a:schemeClr val="tx1"/>
                    </a:solidFill>
                  </a:rPr>
                  <a:t>+0,9 </a:t>
                </a:r>
                <a:r>
                  <a:rPr lang="pt-BR" sz="1400" b="1" dirty="0" err="1">
                    <a:solidFill>
                      <a:schemeClr val="tx1"/>
                    </a:solidFill>
                  </a:rPr>
                  <a:t>pt</a:t>
                </a:r>
                <a:r>
                  <a:rPr lang="pt-BR" sz="1400" dirty="0">
                    <a:solidFill>
                      <a:schemeClr val="tx1"/>
                    </a:solidFill>
                  </a:rPr>
                  <a:t>) e o 1º Ano liderou os cliques em </a:t>
                </a:r>
                <a14:m>
                  <m:oMath xmlns:m="http://schemas.openxmlformats.org/officeDocument/2006/math">
                    <m:r>
                      <a:rPr lang="pt-BR" sz="1400" b="1">
                        <a:solidFill>
                          <a:schemeClr val="tx1"/>
                        </a:solidFill>
                      </a:rPr>
                      <m:t>≤2</m:t>
                    </m:r>
                    <m:r>
                      <m:rPr>
                        <m:nor/>
                      </m:rPr>
                      <a:rPr lang="pt-BR" sz="1400" i="1">
                        <a:solidFill>
                          <a:schemeClr val="tx1"/>
                        </a:solidFill>
                      </a:rPr>
                      <m:t>s</m:t>
                    </m:r>
                  </m:oMath>
                </a14:m>
                <a:r>
                  <a:rPr lang="pt-BR" sz="1400" dirty="0">
                    <a:solidFill>
                      <a:schemeClr val="tx1"/>
                    </a:solidFill>
                  </a:rPr>
                  <a:t> (&gt;52%).</a:t>
                </a:r>
              </a:p>
            </p:txBody>
          </p:sp>
        </mc:Choice>
        <mc:Fallback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063" y="1205815"/>
                <a:ext cx="4246581" cy="148531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m 11">
            <a:extLst>
              <a:ext uri="{FF2B5EF4-FFF2-40B4-BE49-F238E27FC236}">
                <a16:creationId xmlns:a16="http://schemas.microsoft.com/office/drawing/2014/main" id="{56CB5FA2-439B-BEF1-FC62-4EA56CA76B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77" y="3006536"/>
            <a:ext cx="5703862" cy="365771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3927784-7758-42A1-1FED-802D1B9F1C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867" y="3006537"/>
            <a:ext cx="5689778" cy="3657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A1D8147-C2BB-349D-2E1C-95D5EEB94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821" y="-56426"/>
            <a:ext cx="12429460" cy="697085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lang="pt-BR" dirty="0"/>
              <a:t>DATATHON ADW 2026 | FEA-RP/USP • NEURON DSAI • SOLANA SUPERTEAM • 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7139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lang="pt-BR" sz="2200" dirty="0">
                <a:solidFill>
                  <a:schemeClr val="bg1"/>
                </a:solidFill>
              </a:rPr>
              <a:t>Os Problemas Estruturais e as Soluções Desenhadas</a:t>
            </a:r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ounded Rectangle 5"/>
              <p:cNvSpPr/>
              <p:nvPr/>
            </p:nvSpPr>
            <p:spPr>
              <a:xfrm>
                <a:off x="8616803" y="3668233"/>
                <a:ext cx="3220513" cy="1291376"/>
              </a:xfrm>
              <a:prstGeom prst="roundRect">
                <a:avLst/>
              </a:prstGeom>
              <a:solidFill>
                <a:srgbClr val="F8FAFC"/>
              </a:solidFill>
              <a:ln w="19050">
                <a:solidFill>
                  <a:srgbClr val="EF444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150" b="1">
                    <a:solidFill>
                      <a:srgbClr val="EF4444"/>
                    </a:solidFill>
                  </a:defRPr>
                </a:pPr>
                <a:r>
                  <a:rPr lang="pt-BR" sz="1400" dirty="0">
                    <a:solidFill>
                      <a:srgbClr val="EF4444"/>
                    </a:solidFill>
                  </a:rPr>
                  <a:t>Rush Pós-Prova (85% do uso após 04/09): </a:t>
                </a:r>
              </a:p>
              <a:p>
                <a:pPr algn="ctr">
                  <a:defRPr sz="1150" b="1">
                    <a:solidFill>
                      <a:srgbClr val="EF4444"/>
                    </a:solidFill>
                  </a:defRPr>
                </a:pPr>
                <a:r>
                  <a:rPr lang="pt-BR" sz="1150" dirty="0">
                    <a:solidFill>
                      <a:schemeClr val="tx1"/>
                    </a:solidFill>
                  </a:rPr>
                  <a:t>Aluno só entra no fim do bimestre pela nota escolar. </a:t>
                </a:r>
                <a14:m>
                  <m:oMath xmlns:m="http://schemas.openxmlformats.org/officeDocument/2006/math">
                    <m:r>
                      <a:rPr lang="pt-BR" sz="1150" b="1">
                        <a:solidFill>
                          <a:schemeClr val="tx1"/>
                        </a:solidFill>
                      </a:rPr>
                      <m:t>→</m:t>
                    </m:r>
                  </m:oMath>
                </a14:m>
                <a:r>
                  <a:rPr lang="pt-BR" sz="1150" dirty="0">
                    <a:solidFill>
                      <a:schemeClr val="tx1"/>
                    </a:solidFill>
                  </a:rPr>
                  <a:t> </a:t>
                </a:r>
                <a:r>
                  <a:rPr lang="pt-BR" sz="1150" b="1" dirty="0">
                    <a:solidFill>
                      <a:schemeClr val="tx1"/>
                    </a:solidFill>
                  </a:rPr>
                  <a:t>Solução:</a:t>
                </a:r>
                <a:r>
                  <a:rPr lang="pt-BR" sz="1150" dirty="0">
                    <a:solidFill>
                      <a:schemeClr val="tx1"/>
                    </a:solidFill>
                  </a:rPr>
                  <a:t> Desafios finais em cada Modulo e desbloqueio de itens do mascote atrelados à semana de cada aula.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803" y="3668233"/>
                <a:ext cx="3220513" cy="129137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EF4444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/>
              <p:cNvSpPr/>
              <p:nvPr/>
            </p:nvSpPr>
            <p:spPr>
              <a:xfrm>
                <a:off x="340951" y="1523565"/>
                <a:ext cx="3667170" cy="1528751"/>
              </a:xfrm>
              <a:prstGeom prst="roundRect">
                <a:avLst/>
              </a:prstGeom>
              <a:solidFill>
                <a:srgbClr val="F8FAFC"/>
              </a:solidFill>
              <a:ln w="19050">
                <a:solidFill>
                  <a:srgbClr val="10B98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150" b="1">
                    <a:solidFill>
                      <a:srgbClr val="10B981"/>
                    </a:solidFill>
                  </a:defRPr>
                </a:pPr>
                <a:r>
                  <a:rPr lang="pt-BR" sz="1400" dirty="0">
                    <a:solidFill>
                      <a:srgbClr val="10B981"/>
                    </a:solidFill>
                  </a:rPr>
                  <a:t>Escassez e Decoreba </a:t>
                </a:r>
              </a:p>
              <a:p>
                <a:pPr algn="ctr">
                  <a:defRPr sz="1150" b="1">
                    <a:solidFill>
                      <a:srgbClr val="10B981"/>
                    </a:solidFill>
                  </a:defRPr>
                </a:pPr>
                <a:r>
                  <a:rPr lang="pt-BR" sz="1400" dirty="0">
                    <a:solidFill>
                      <a:srgbClr val="10B981"/>
                    </a:solidFill>
                  </a:rPr>
                  <a:t>(8 </a:t>
                </a:r>
                <a:r>
                  <a:rPr lang="pt-BR" sz="1400" dirty="0" err="1">
                    <a:solidFill>
                      <a:srgbClr val="10B981"/>
                    </a:solidFill>
                  </a:rPr>
                  <a:t>quizzes</a:t>
                </a:r>
                <a:r>
                  <a:rPr lang="pt-BR" sz="1400" dirty="0">
                    <a:solidFill>
                      <a:srgbClr val="10B981"/>
                    </a:solidFill>
                  </a:rPr>
                  <a:t> nos Módulos 69–71 e 68,7% de acerto rápido na 5ª+ tentativa): </a:t>
                </a:r>
              </a:p>
              <a:p>
                <a:pPr algn="ctr">
                  <a:defRPr sz="1150" b="1">
                    <a:solidFill>
                      <a:srgbClr val="10B981"/>
                    </a:solidFill>
                  </a:defRPr>
                </a:pPr>
                <a:r>
                  <a:rPr lang="pt-BR" sz="1150" dirty="0">
                    <a:solidFill>
                      <a:schemeClr val="tx1"/>
                    </a:solidFill>
                  </a:rPr>
                  <a:t>Repetição até decorar a letra correta. </a:t>
                </a:r>
                <a14:m>
                  <m:oMath xmlns:m="http://schemas.openxmlformats.org/officeDocument/2006/math">
                    <m:r>
                      <a:rPr lang="pt-BR" sz="1150" b="1">
                        <a:solidFill>
                          <a:schemeClr val="tx1"/>
                        </a:solidFill>
                      </a:rPr>
                      <m:t>→</m:t>
                    </m:r>
                  </m:oMath>
                </a14:m>
                <a:r>
                  <a:rPr lang="pt-BR" sz="1150" dirty="0">
                    <a:solidFill>
                      <a:schemeClr val="tx1"/>
                    </a:solidFill>
                  </a:rPr>
                  <a:t> </a:t>
                </a:r>
                <a:r>
                  <a:rPr lang="pt-BR" sz="1150" b="1" dirty="0">
                    <a:solidFill>
                      <a:schemeClr val="tx1"/>
                    </a:solidFill>
                  </a:rPr>
                  <a:t>Solução:</a:t>
                </a:r>
                <a:r>
                  <a:rPr lang="pt-BR" sz="1150" dirty="0">
                    <a:solidFill>
                      <a:schemeClr val="tx1"/>
                    </a:solidFill>
                  </a:rPr>
                  <a:t> IA Paramétrica que altera os números do enunciado a cada revanche.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51" y="1523565"/>
                <a:ext cx="3667170" cy="152875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10B98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/>
              <p:cNvSpPr/>
              <p:nvPr/>
            </p:nvSpPr>
            <p:spPr>
              <a:xfrm>
                <a:off x="8616803" y="5131129"/>
                <a:ext cx="3326173" cy="1361111"/>
              </a:xfrm>
              <a:prstGeom prst="roundRect">
                <a:avLst/>
              </a:prstGeom>
              <a:solidFill>
                <a:srgbClr val="F8FAFC"/>
              </a:solidFill>
              <a:ln w="19050">
                <a:solidFill>
                  <a:srgbClr val="2563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150" b="1">
                    <a:solidFill>
                      <a:srgbClr val="2563EB"/>
                    </a:solidFill>
                  </a:defRPr>
                </a:pPr>
                <a:r>
                  <a:rPr lang="pt-BR" sz="1400" b="1" dirty="0">
                    <a:solidFill>
                      <a:srgbClr val="2563EB"/>
                    </a:solidFill>
                  </a:rPr>
                  <a:t>Cegueira Analítica no Banco:</a:t>
                </a:r>
                <a:r>
                  <a:rPr lang="pt-BR" sz="1400" dirty="0">
                    <a:solidFill>
                      <a:srgbClr val="2563EB"/>
                    </a:solidFill>
                  </a:rPr>
                  <a:t> </a:t>
                </a:r>
              </a:p>
              <a:p>
                <a:pPr algn="ctr">
                  <a:defRPr sz="1150" b="1">
                    <a:solidFill>
                      <a:srgbClr val="2563EB"/>
                    </a:solidFill>
                  </a:defRPr>
                </a:pPr>
                <a:r>
                  <a:rPr lang="pt-BR" sz="1200" dirty="0">
                    <a:solidFill>
                      <a:schemeClr val="tx1"/>
                    </a:solidFill>
                  </a:rPr>
                  <a:t>Falta de ID individual da pergunta e tempo medido apenas no aparelho do aluno. </a:t>
                </a:r>
                <a14:m>
                  <m:oMath xmlns:m="http://schemas.openxmlformats.org/officeDocument/2006/math">
                    <m:r>
                      <a:rPr lang="pt-BR" sz="1200" b="1">
                        <a:solidFill>
                          <a:schemeClr val="tx1"/>
                        </a:solidFill>
                      </a:rPr>
                      <m:t>→</m:t>
                    </m:r>
                  </m:oMath>
                </a14:m>
                <a:r>
                  <a:rPr lang="pt-BR" sz="1200" b="1" dirty="0">
                    <a:solidFill>
                      <a:schemeClr val="tx1"/>
                    </a:solidFill>
                  </a:rPr>
                  <a:t>Solução:</a:t>
                </a:r>
                <a:r>
                  <a:rPr lang="pt-BR" sz="1200" dirty="0">
                    <a:solidFill>
                      <a:schemeClr val="tx1"/>
                    </a:solidFill>
                  </a:rPr>
                  <a:t> Gravar </a:t>
                </a:r>
                <a:r>
                  <a:rPr lang="pt-BR" sz="1200" dirty="0" err="1">
                    <a:solidFill>
                      <a:schemeClr val="tx1"/>
                    </a:solidFill>
                  </a:rPr>
                  <a:t>question_id</a:t>
                </a:r>
                <a:r>
                  <a:rPr lang="pt-BR" sz="1200" dirty="0">
                    <a:solidFill>
                      <a:schemeClr val="tx1"/>
                    </a:solidFill>
                  </a:rPr>
                  <a:t> na tabela de respostas e validar o tempo de abertura no servidor.</a:t>
                </a:r>
              </a:p>
            </p:txBody>
          </p:sp>
        </mc:Choice>
        <mc:Fallback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803" y="5131129"/>
                <a:ext cx="3326173" cy="136111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m 11">
            <a:extLst>
              <a:ext uri="{FF2B5EF4-FFF2-40B4-BE49-F238E27FC236}">
                <a16:creationId xmlns:a16="http://schemas.microsoft.com/office/drawing/2014/main" id="{B05520DF-0124-5B6F-27C1-8015CAEFE6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7151" y="1182582"/>
            <a:ext cx="7772400" cy="2189514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E0E9B64-DBD6-02C6-A4B3-00D0B0225D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951" y="3457856"/>
            <a:ext cx="7772400" cy="32949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82A2D988-D8CD-5C2B-CC22-1EA3AD594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199" y="0"/>
            <a:ext cx="12489712" cy="714107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lang="pt-BR" sz="1000" b="1" dirty="0">
                <a:solidFill>
                  <a:srgbClr val="2563EB"/>
                </a:solidFill>
              </a:rPr>
              <a:t>PROPOSTA DE PRODUTO | ENGENHARIA BASEADA EM DADOS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lang="pt-BR" sz="2200" dirty="0">
                <a:solidFill>
                  <a:schemeClr val="bg1"/>
                </a:solidFill>
              </a:rPr>
              <a:t>Engenharia </a:t>
            </a:r>
            <a:r>
              <a:rPr lang="pt-BR" sz="2200" dirty="0" err="1">
                <a:solidFill>
                  <a:schemeClr val="bg1"/>
                </a:solidFill>
              </a:rPr>
              <a:t>Anti-Chute</a:t>
            </a:r>
            <a:r>
              <a:rPr lang="pt-BR" sz="2200" dirty="0">
                <a:solidFill>
                  <a:schemeClr val="bg1"/>
                </a:solidFill>
              </a:rPr>
              <a:t> em Ação e Como Medir o Sucesso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0732" y="2009553"/>
            <a:ext cx="3838354" cy="368971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pt-BR" b="1" dirty="0">
                <a:solidFill>
                  <a:srgbClr val="0070C0"/>
                </a:solidFill>
              </a:rPr>
              <a:t>IA &amp; Questões Paramétricas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i="1" dirty="0">
                <a:solidFill>
                  <a:schemeClr val="tx1"/>
                </a:solidFill>
              </a:rPr>
              <a:t>(Cura a decoreba da 2ª tentativa e o gargalo dos 8 </a:t>
            </a:r>
            <a:r>
              <a:rPr lang="pt-BR" i="1" dirty="0" err="1">
                <a:solidFill>
                  <a:schemeClr val="tx1"/>
                </a:solidFill>
              </a:rPr>
              <a:t>quizzes</a:t>
            </a:r>
            <a:r>
              <a:rPr lang="pt-BR" i="1" dirty="0">
                <a:solidFill>
                  <a:schemeClr val="tx1"/>
                </a:solidFill>
              </a:rPr>
              <a:t>)</a:t>
            </a:r>
            <a:endParaRPr lang="pt-BR" dirty="0">
              <a:solidFill>
                <a:schemeClr val="tx1"/>
              </a:solidFill>
            </a:endParaRPr>
          </a:p>
          <a:p>
            <a:pPr lvl="0" algn="ctr"/>
            <a:r>
              <a:rPr lang="pt-BR" sz="1400" b="1" dirty="0">
                <a:solidFill>
                  <a:schemeClr val="tx1"/>
                </a:solidFill>
              </a:rPr>
              <a:t>Valores Dinâmicos por IA:</a:t>
            </a:r>
            <a:r>
              <a:rPr lang="pt-BR" sz="1400" dirty="0">
                <a:solidFill>
                  <a:schemeClr val="tx1"/>
                </a:solidFill>
              </a:rPr>
              <a:t> Enunciados com números que mudam a cada tentativa gerados a partir da matriz da OLITEF.</a:t>
            </a:r>
          </a:p>
          <a:p>
            <a:pPr lvl="0" algn="ctr"/>
            <a:endParaRPr lang="pt-BR" sz="1400" dirty="0">
              <a:solidFill>
                <a:schemeClr val="tx1"/>
              </a:solidFill>
            </a:endParaRPr>
          </a:p>
          <a:p>
            <a:pPr lvl="0" algn="ctr"/>
            <a:r>
              <a:rPr lang="pt-BR" sz="1400" b="1" dirty="0">
                <a:solidFill>
                  <a:schemeClr val="tx1"/>
                </a:solidFill>
              </a:rPr>
              <a:t>Fim da Decoreba:</a:t>
            </a:r>
            <a:r>
              <a:rPr lang="pt-BR" sz="1400" dirty="0">
                <a:solidFill>
                  <a:schemeClr val="tx1"/>
                </a:solidFill>
              </a:rPr>
              <a:t> O conceito financeiro é o mesmo, mas o cálculo muda: decorar a letra da tentativa anterior não funciona mais.</a:t>
            </a:r>
          </a:p>
          <a:p>
            <a:pPr lvl="0" algn="ctr"/>
            <a:endParaRPr lang="pt-BR" sz="1400" dirty="0">
              <a:solidFill>
                <a:schemeClr val="tx1"/>
              </a:solidFill>
            </a:endParaRPr>
          </a:p>
          <a:p>
            <a:pPr lvl="0" algn="ctr"/>
            <a:r>
              <a:rPr lang="pt-BR" sz="1400" b="1" dirty="0">
                <a:solidFill>
                  <a:schemeClr val="tx1"/>
                </a:solidFill>
              </a:rPr>
              <a:t>Catálogo Infinito:</a:t>
            </a:r>
            <a:r>
              <a:rPr lang="pt-BR" sz="1400" dirty="0">
                <a:solidFill>
                  <a:schemeClr val="tx1"/>
                </a:solidFill>
              </a:rPr>
              <a:t> Expande os módulos temáticos para que o aluno não esgote o conteúdo em 2 dias.</a:t>
            </a:r>
            <a:endParaRPr lang="pt-BR" sz="1400" dirty="0">
              <a:solidFill>
                <a:schemeClr val="tx1"/>
              </a:solidFill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/>
              <p:cNvSpPr/>
              <p:nvPr/>
            </p:nvSpPr>
            <p:spPr>
              <a:xfrm>
                <a:off x="8338228" y="2009553"/>
                <a:ext cx="3838354" cy="3689717"/>
              </a:xfrm>
              <a:prstGeom prst="roundRect">
                <a:avLst/>
              </a:prstGeom>
              <a:solidFill>
                <a:srgbClr val="F8FAFC"/>
              </a:solidFill>
              <a:ln w="19050">
                <a:solidFill>
                  <a:srgbClr val="F59E0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lvl="0" algn="ctr"/>
                <a:r>
                  <a:rPr lang="pt-BR" b="1" dirty="0">
                    <a:solidFill>
                      <a:schemeClr val="accent6"/>
                    </a:solidFill>
                  </a:rPr>
                  <a:t>Fricção Cognitiva &amp; Janela de Velocidade Ideal</a:t>
                </a:r>
                <a:r>
                  <a:rPr lang="pt-BR" dirty="0">
                    <a:solidFill>
                      <a:schemeClr val="accent6"/>
                    </a:solidFill>
                    <a:effectLst/>
                  </a:rPr>
                  <a:t> </a:t>
                </a:r>
              </a:p>
              <a:p>
                <a:pPr lvl="0" algn="ctr"/>
                <a:r>
                  <a:rPr lang="pt-BR" i="1" dirty="0">
                    <a:solidFill>
                      <a:schemeClr val="tx1"/>
                    </a:solidFill>
                    <a:effectLst/>
                  </a:rPr>
                  <a:t>(Cura os 46,3% de chutes em </a:t>
                </a:r>
                <a14:m>
                  <m:oMath xmlns:m="http://schemas.openxmlformats.org/officeDocument/2006/math">
                    <m:r>
                      <a:rPr lang="pt-BR">
                        <a:solidFill>
                          <a:schemeClr val="tx1"/>
                        </a:solidFill>
                      </a:rPr>
                      <m:t>≤2</m:t>
                    </m:r>
                  </m:oMath>
                </a14:m>
                <a:r>
                  <a:rPr lang="pt-BR" i="1" dirty="0" err="1">
                    <a:solidFill>
                      <a:schemeClr val="tx1"/>
                    </a:solidFill>
                    <a:effectLst/>
                  </a:rPr>
                  <a:t>s</a:t>
                </a:r>
                <a:r>
                  <a:rPr lang="pt-BR" i="1" dirty="0">
                    <a:solidFill>
                      <a:schemeClr val="tx1"/>
                    </a:solidFill>
                    <a:effectLst/>
                  </a:rPr>
                  <a:t>)</a:t>
                </a:r>
                <a:r>
                  <a:rPr lang="pt-BR" dirty="0">
                    <a:solidFill>
                      <a:schemeClr val="tx1"/>
                    </a:solidFill>
                    <a:effectLst/>
                  </a:rPr>
                  <a:t>: </a:t>
                </a:r>
              </a:p>
              <a:p>
                <a:pPr lvl="1" algn="ctr"/>
                <a:r>
                  <a:rPr lang="pt-BR" sz="1400" b="1" dirty="0">
                    <a:solidFill>
                      <a:schemeClr val="tx1"/>
                    </a:solidFill>
                    <a:effectLst/>
                  </a:rPr>
                  <a:t>Temporizador Mínimo:</a:t>
                </a:r>
                <a:r>
                  <a:rPr lang="pt-BR" sz="1400" dirty="0">
                    <a:solidFill>
                      <a:schemeClr val="tx1"/>
                    </a:solidFill>
                    <a:effectLst/>
                  </a:rPr>
                  <a:t> Botão de envio travado nos primeiros 3 a 4 segundos proporcionais ao tamanho do enunciado.</a:t>
                </a:r>
              </a:p>
              <a:p>
                <a:pPr lvl="1" algn="ctr"/>
                <a:r>
                  <a:rPr lang="pt-BR" sz="1400" b="1" dirty="0">
                    <a:solidFill>
                      <a:schemeClr val="tx1"/>
                    </a:solidFill>
                  </a:rPr>
                  <a:t>Janela de Leitura Otimizada: </a:t>
                </a:r>
                <a:r>
                  <a:rPr lang="pt-BR" sz="1400" dirty="0">
                    <a:solidFill>
                      <a:schemeClr val="tx1"/>
                    </a:solidFill>
                  </a:rPr>
                  <a:t>Estímulo ativo para respostas entre 6s e 20s, onde os dados provam que o acerto atinge quase 80%.</a:t>
                </a:r>
              </a:p>
              <a:p>
                <a:pPr lvl="1" algn="ctr"/>
                <a:r>
                  <a:rPr lang="pt-BR" sz="1400" b="1" dirty="0">
                    <a:solidFill>
                      <a:schemeClr val="tx1"/>
                    </a:solidFill>
                  </a:rPr>
                  <a:t>Foco na Leitura Real:</a:t>
                </a:r>
                <a:r>
                  <a:rPr lang="pt-BR" sz="1400" dirty="0">
                    <a:solidFill>
                      <a:schemeClr val="tx1"/>
                    </a:solidFill>
                  </a:rPr>
                  <a:t> Garante que o aluno processe o problema antes de clicar, eliminando o chute cego (onde o acerto é de apenas 52%).</a:t>
                </a:r>
                <a:endParaRPr lang="pt-BR" sz="1400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228" y="2009553"/>
                <a:ext cx="3838354" cy="368971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59E0B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4117724" y="2009553"/>
            <a:ext cx="4031866" cy="368971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pt-BR" b="1" dirty="0">
                <a:solidFill>
                  <a:srgbClr val="7030A0"/>
                </a:solidFill>
              </a:rPr>
              <a:t>Arena SIA &amp; Itens na Solana</a:t>
            </a:r>
            <a:br>
              <a:rPr lang="pt-BR" dirty="0">
                <a:solidFill>
                  <a:schemeClr val="tx1"/>
                </a:solidFill>
              </a:rPr>
            </a:br>
            <a:r>
              <a:rPr lang="pt-BR" i="1" dirty="0">
                <a:solidFill>
                  <a:schemeClr val="tx1"/>
                </a:solidFill>
              </a:rPr>
              <a:t>(Cura o apagão de agosto e o rush burocrático de setembro)</a:t>
            </a:r>
            <a:endParaRPr lang="pt-BR" dirty="0">
              <a:solidFill>
                <a:schemeClr val="tx1"/>
              </a:solidFill>
            </a:endParaRPr>
          </a:p>
          <a:p>
            <a:pPr lvl="0" algn="ctr"/>
            <a:r>
              <a:rPr lang="pt-BR" sz="1400" b="1" dirty="0">
                <a:solidFill>
                  <a:schemeClr val="tx1"/>
                </a:solidFill>
              </a:rPr>
              <a:t>Duelos 1v1 de Treino:</a:t>
            </a:r>
            <a:r>
              <a:rPr lang="pt-BR" sz="1400" dirty="0">
                <a:solidFill>
                  <a:schemeClr val="tx1"/>
                </a:solidFill>
              </a:rPr>
              <a:t> Alunos se desafiam em rodadas rápidas com questões de prova, tornando o estudo ativo e diário durante as aulas.</a:t>
            </a:r>
          </a:p>
          <a:p>
            <a:pPr lvl="0" algn="ctr"/>
            <a:r>
              <a:rPr lang="pt-BR" sz="1400" b="1" dirty="0">
                <a:solidFill>
                  <a:schemeClr val="tx1"/>
                </a:solidFill>
              </a:rPr>
              <a:t>Itens para o Porquinho:</a:t>
            </a:r>
            <a:r>
              <a:rPr lang="pt-BR" sz="1400" dirty="0">
                <a:solidFill>
                  <a:schemeClr val="tx1"/>
                </a:solidFill>
              </a:rPr>
              <a:t> Concluir módulos com leitura real desbloqueia acessórios temáticos exclusivos para personalizar o mascote.</a:t>
            </a:r>
          </a:p>
          <a:p>
            <a:pPr lvl="0" algn="ctr"/>
            <a:r>
              <a:rPr lang="pt-BR" sz="1400" b="1" dirty="0">
                <a:solidFill>
                  <a:schemeClr val="tx1"/>
                </a:solidFill>
              </a:rPr>
              <a:t>Colecionáveis na Solana (</a:t>
            </a:r>
            <a:r>
              <a:rPr lang="pt-BR" sz="1400" b="1" dirty="0" err="1">
                <a:solidFill>
                  <a:schemeClr val="tx1"/>
                </a:solidFill>
              </a:rPr>
              <a:t>cNFTs</a:t>
            </a:r>
            <a:r>
              <a:rPr lang="pt-BR" sz="1400" b="1" dirty="0">
                <a:solidFill>
                  <a:schemeClr val="tx1"/>
                </a:solidFill>
              </a:rPr>
              <a:t>):</a:t>
            </a:r>
            <a:r>
              <a:rPr lang="pt-BR" sz="1400" dirty="0">
                <a:solidFill>
                  <a:schemeClr val="tx1"/>
                </a:solidFill>
              </a:rPr>
              <a:t> Itens registrados on-</a:t>
            </a:r>
            <a:r>
              <a:rPr lang="pt-BR" sz="1400" dirty="0" err="1">
                <a:solidFill>
                  <a:schemeClr val="tx1"/>
                </a:solidFill>
              </a:rPr>
              <a:t>chain</a:t>
            </a:r>
            <a:r>
              <a:rPr lang="pt-BR" sz="1400" dirty="0">
                <a:solidFill>
                  <a:schemeClr val="tx1"/>
                </a:solidFill>
              </a:rPr>
              <a:t> com custo zero. Dá orgulho de conquista e elimina o rush de última hora por nota escolar.</a:t>
            </a:r>
          </a:p>
          <a:p>
            <a:pPr lvl="0" algn="ctr"/>
            <a:endParaRPr lang="pt-BR" sz="14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38A6F21-96D4-234B-181F-48E2BB2DA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0" cy="697085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57092" y="376150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lang="pt-BR" sz="1000" b="1" dirty="0">
                <a:solidFill>
                  <a:srgbClr val="2563EB"/>
                </a:solidFill>
              </a:rPr>
              <a:t>A EXPERIÊNCIA DO ALUNO | GAMIFICAÇÃO &amp; PRODUTO</a:t>
            </a:r>
            <a:endParaRPr sz="11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lang="pt-BR" sz="2200" b="1" i="1" dirty="0">
                <a:solidFill>
                  <a:schemeClr val="bg1"/>
                </a:solidFill>
              </a:rPr>
              <a:t>Da Obrigação Escolar ao Desafio: A Batalha contra a Falência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C30DD16-5CBB-DF5A-C856-2273E1ACD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643" y="1174548"/>
            <a:ext cx="9794713" cy="5342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1EE8775-AC66-A752-F690-A42D9327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7085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4. PLANO DE VALIDAÇÃO | TESTE A/B &amp; TELEMETRIA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>
                <a:solidFill>
                  <a:schemeClr val="bg1"/>
                </a:solidFill>
              </a:rPr>
              <a:t>Plano de Validação (Teste A/B) e Telemetria de Banco de Dados</a:t>
            </a:r>
          </a:p>
        </p:txBody>
      </p:sp>
      <p:pic>
        <p:nvPicPr>
          <p:cNvPr id="5" name="Picture 4" descr="slide7_kpis_valida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88720"/>
            <a:ext cx="10698480" cy="38460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120640"/>
            <a:ext cx="10698480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rPr sz="1400" dirty="0" err="1"/>
              <a:t>Evolução</a:t>
            </a:r>
            <a:r>
              <a:rPr sz="1400" dirty="0"/>
              <a:t> </a:t>
            </a:r>
            <a:r>
              <a:rPr sz="1400" dirty="0" err="1"/>
              <a:t>Recomendada</a:t>
            </a:r>
            <a:r>
              <a:rPr sz="1400" dirty="0"/>
              <a:t> para o Schema de Banco de Dados da SIA </a:t>
            </a:r>
            <a:r>
              <a:rPr sz="1400" dirty="0" err="1"/>
              <a:t>Educação</a:t>
            </a:r>
            <a:endParaRPr sz="1400" dirty="0"/>
          </a:p>
          <a:p>
            <a:pPr>
              <a:defRPr sz="1000">
                <a:solidFill>
                  <a:srgbClr val="0F172A"/>
                </a:solidFill>
              </a:defRPr>
            </a:pPr>
            <a:r>
              <a:rPr sz="1400" dirty="0"/>
              <a:t>1. Adicionar </a:t>
            </a:r>
            <a:r>
              <a:rPr sz="1400" dirty="0" err="1"/>
              <a:t>question_id</a:t>
            </a:r>
            <a:r>
              <a:rPr sz="1400" dirty="0"/>
              <a:t> </a:t>
            </a:r>
            <a:r>
              <a:rPr sz="1400" dirty="0" err="1"/>
              <a:t>na</a:t>
            </a:r>
            <a:r>
              <a:rPr sz="1400" dirty="0"/>
              <a:t> </a:t>
            </a:r>
            <a:r>
              <a:rPr sz="1400" dirty="0" err="1"/>
              <a:t>tabela</a:t>
            </a:r>
            <a:r>
              <a:rPr sz="1400" dirty="0"/>
              <a:t> </a:t>
            </a:r>
            <a:r>
              <a:rPr sz="1400" dirty="0" err="1"/>
              <a:t>user_question_answers</a:t>
            </a:r>
            <a:r>
              <a:rPr sz="1400" dirty="0"/>
              <a:t>: </a:t>
            </a:r>
            <a:r>
              <a:rPr sz="1400" dirty="0" err="1"/>
              <a:t>Permite</a:t>
            </a:r>
            <a:r>
              <a:rPr sz="1400" dirty="0"/>
              <a:t> </a:t>
            </a:r>
            <a:r>
              <a:rPr sz="1400" dirty="0" err="1"/>
              <a:t>identificar</a:t>
            </a:r>
            <a:r>
              <a:rPr sz="1400" dirty="0"/>
              <a:t> </a:t>
            </a:r>
            <a:r>
              <a:rPr sz="1400" dirty="0" err="1"/>
              <a:t>questões</a:t>
            </a:r>
            <a:r>
              <a:rPr sz="1400" dirty="0"/>
              <a:t> com </a:t>
            </a:r>
            <a:r>
              <a:rPr sz="1400" dirty="0" err="1"/>
              <a:t>falha</a:t>
            </a:r>
            <a:r>
              <a:rPr sz="1400" dirty="0"/>
              <a:t> </a:t>
            </a:r>
            <a:r>
              <a:rPr sz="1400" dirty="0" err="1"/>
              <a:t>pedagógica</a:t>
            </a:r>
            <a:r>
              <a:rPr sz="1400" dirty="0"/>
              <a:t> </a:t>
            </a:r>
            <a:r>
              <a:rPr sz="1400" dirty="0" err="1"/>
              <a:t>ou</a:t>
            </a:r>
            <a:r>
              <a:rPr sz="1400" dirty="0"/>
              <a:t> </a:t>
            </a:r>
            <a:r>
              <a:rPr sz="1400" dirty="0" err="1"/>
              <a:t>gabarito</a:t>
            </a:r>
            <a:r>
              <a:rPr sz="1400" dirty="0"/>
              <a:t> </a:t>
            </a:r>
            <a:r>
              <a:rPr sz="1400" dirty="0" err="1"/>
              <a:t>ambíguo</a:t>
            </a:r>
            <a:r>
              <a:rPr sz="1400" dirty="0"/>
              <a:t>.</a:t>
            </a:r>
            <a:br>
              <a:rPr sz="1400" dirty="0"/>
            </a:br>
            <a:r>
              <a:rPr sz="1400" dirty="0"/>
              <a:t>2. </a:t>
            </a:r>
            <a:r>
              <a:rPr sz="1400" dirty="0" err="1"/>
              <a:t>Telemetria</a:t>
            </a:r>
            <a:r>
              <a:rPr sz="1400" dirty="0"/>
              <a:t> Server-Side: </a:t>
            </a:r>
            <a:r>
              <a:rPr sz="1400" dirty="0" err="1"/>
              <a:t>Calcular</a:t>
            </a:r>
            <a:r>
              <a:rPr sz="1400" dirty="0"/>
              <a:t> </a:t>
            </a:r>
            <a:r>
              <a:rPr sz="1400" dirty="0" err="1"/>
              <a:t>time_taken_seconds</a:t>
            </a:r>
            <a:r>
              <a:rPr sz="1400" dirty="0"/>
              <a:t> via timestamp </a:t>
            </a:r>
            <a:r>
              <a:rPr sz="1400" dirty="0" err="1"/>
              <a:t>confiável</a:t>
            </a:r>
            <a:r>
              <a:rPr sz="1400" dirty="0"/>
              <a:t> do </a:t>
            </a:r>
            <a:r>
              <a:rPr sz="1400" dirty="0" err="1"/>
              <a:t>servidor</a:t>
            </a:r>
            <a:r>
              <a:rPr sz="1400" dirty="0"/>
              <a:t> para </a:t>
            </a:r>
            <a:r>
              <a:rPr sz="1400" dirty="0" err="1"/>
              <a:t>evitar</a:t>
            </a:r>
            <a:r>
              <a:rPr sz="1400" dirty="0"/>
              <a:t> </a:t>
            </a:r>
            <a:r>
              <a:rPr sz="1400" dirty="0" err="1"/>
              <a:t>manipulação</a:t>
            </a:r>
            <a:r>
              <a:rPr sz="1400" dirty="0"/>
              <a:t> de </a:t>
            </a:r>
            <a:r>
              <a:rPr sz="1400" dirty="0" err="1"/>
              <a:t>relógio</a:t>
            </a:r>
            <a:r>
              <a:rPr sz="1400" dirty="0"/>
              <a:t> no </a:t>
            </a:r>
            <a:r>
              <a:rPr sz="1400" dirty="0" err="1"/>
              <a:t>cliente</a:t>
            </a:r>
            <a:r>
              <a:rPr sz="1400" dirty="0"/>
              <a:t>.</a:t>
            </a:r>
            <a:br>
              <a:rPr sz="1400" dirty="0"/>
            </a:br>
            <a:r>
              <a:rPr sz="1400" dirty="0"/>
              <a:t>3. </a:t>
            </a:r>
            <a:r>
              <a:rPr sz="1400" dirty="0" err="1"/>
              <a:t>Validação</a:t>
            </a:r>
            <a:r>
              <a:rPr sz="1400" dirty="0"/>
              <a:t> A/B: </a:t>
            </a:r>
            <a:r>
              <a:rPr sz="1400" dirty="0" err="1"/>
              <a:t>Dividir</a:t>
            </a:r>
            <a:r>
              <a:rPr sz="1400" dirty="0"/>
              <a:t> </a:t>
            </a:r>
            <a:r>
              <a:rPr sz="1400" dirty="0" err="1"/>
              <a:t>turmas</a:t>
            </a:r>
            <a:r>
              <a:rPr sz="1400" dirty="0"/>
              <a:t> entre Quiz </a:t>
            </a:r>
            <a:r>
              <a:rPr sz="1400" dirty="0" err="1"/>
              <a:t>Padrão</a:t>
            </a:r>
            <a:r>
              <a:rPr sz="1400" dirty="0"/>
              <a:t> e SIA Arena para </a:t>
            </a:r>
            <a:r>
              <a:rPr sz="1400" dirty="0" err="1"/>
              <a:t>medir</a:t>
            </a:r>
            <a:r>
              <a:rPr sz="1400" dirty="0"/>
              <a:t> </a:t>
            </a:r>
            <a:r>
              <a:rPr sz="1400" dirty="0" err="1"/>
              <a:t>ganho</a:t>
            </a:r>
            <a:r>
              <a:rPr sz="1400" dirty="0"/>
              <a:t> causal </a:t>
            </a:r>
            <a:r>
              <a:rPr sz="1400" dirty="0" err="1"/>
              <a:t>limpo</a:t>
            </a:r>
            <a:r>
              <a:rPr sz="1400" dirty="0"/>
              <a:t> no teste t (meta p &lt; 0,05).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1043</Words>
  <Application>Microsoft Macintosh PowerPoint</Application>
  <PresentationFormat>Widescreen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Pedro Sandoval</cp:lastModifiedBy>
  <cp:revision>5</cp:revision>
  <dcterms:created xsi:type="dcterms:W3CDTF">2013-01-27T09:14:16Z</dcterms:created>
  <dcterms:modified xsi:type="dcterms:W3CDTF">2026-10-23T05:08:34Z</dcterms:modified>
  <cp:category/>
</cp:coreProperties>
</file>